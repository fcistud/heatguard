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15"/>
    <p:sldId id="257" r:id="rId16"/>
    <p:sldId id="258" r:id="rId17"/>
    <p:sldId id="259" r:id="rId14"/>
    <p:sldId id="260" r:id="rId13"/>
    <p:sldId id="261" r:id="rId12"/>
    <p:sldId id="262" r:id="rId11"/>
    <p:sldId id="263" r:id="rId10"/>
    <p:sldId id="264" r:id="rId9"/>
    <p:sldId id="265" r:id="rId8"/>
    <p:sldId id="266" r:id="rId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062E10-99F9-49DE-919D-8A371F6A5067}">
  <a:tblStyle styleId="{E7062E10-99F9-49DE-919D-8A371F6A506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6.xml"/><Relationship Id="rId13" Type="http://schemas.openxmlformats.org/officeDocument/2006/relationships/slide" Target="slides/slide5.xml"/><Relationship Id="rId14" Type="http://schemas.openxmlformats.org/officeDocument/2006/relationships/slide" Target="slides/slide4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font" Target="fonts/Raleway-regular.fntdata"/><Relationship Id="rId19" Type="http://schemas.openxmlformats.org/officeDocument/2006/relationships/font" Target="fonts/Raleway-bold.fntdata"/><Relationship Id="rId20" Type="http://schemas.openxmlformats.org/officeDocument/2006/relationships/font" Target="fonts/Raleway-italic.fntdata"/><Relationship Id="rId21" Type="http://schemas.openxmlformats.org/officeDocument/2006/relationships/font" Target="fonts/Raleway-boldItalic.fntdata"/><Relationship Id="rId22" Type="http://schemas.openxmlformats.org/officeDocument/2006/relationships/font" Target="fonts/Roboto-regular.fntdata"/><Relationship Id="rId23" Type="http://schemas.openxmlformats.org/officeDocument/2006/relationships/font" Target="fonts/Roboto-bold.fntdata"/><Relationship Id="rId24" Type="http://schemas.openxmlformats.org/officeDocument/2006/relationships/font" Target="fonts/Roboto-italic.fntdata"/><Relationship Id="rId25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600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A5E9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C55E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17"/>
          <p:cNvGrpSpPr/>
          <p:nvPr/>
        </p:nvGrpSpPr>
        <p:grpSpPr>
          <a:xfrm>
            <a:off x="7436882" y="164017"/>
            <a:ext cx="1440454" cy="338916"/>
            <a:chOff x="1874273" y="1668721"/>
            <a:chExt cx="5700254" cy="1341179"/>
          </a:xfrm>
        </p:grpSpPr>
        <p:pic>
          <p:nvPicPr>
            <p:cNvPr id="64" name="Google Shape;64;p17"/>
            <p:cNvPicPr preferRelativeResize="0"/>
            <p:nvPr/>
          </p:nvPicPr>
          <p:blipFill rotWithShape="1">
            <a:blip r:embed="rId2">
              <a:alphaModFix/>
            </a:blip>
            <a:srcRect b="46329" l="0" r="0" t="0"/>
            <a:stretch/>
          </p:blipFill>
          <p:spPr>
            <a:xfrm>
              <a:off x="1874273" y="1668721"/>
              <a:ext cx="5700254" cy="7239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7"/>
            <p:cNvPicPr preferRelativeResize="0"/>
            <p:nvPr/>
          </p:nvPicPr>
          <p:blipFill rotWithShape="1">
            <a:blip r:embed="rId2">
              <a:alphaModFix/>
            </a:blip>
            <a:srcRect b="5" l="14973" r="21664" t="54237"/>
            <a:stretch/>
          </p:blipFill>
          <p:spPr>
            <a:xfrm>
              <a:off x="2766059" y="2392680"/>
              <a:ext cx="3611881" cy="6172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sz="5400" b="1">
                <a:solidFill>
                  <a:srgbClr val="FF6A00"/>
                </a:solidFill>
                <a:latin typeface="Arial"/>
              </a:rPr>
              <a:t>HeatGuard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12121"/>
                </a:solidFill>
                <a:latin typeface="Arial"/>
              </a:rPr>
              <a:t>Adaptive heat-safety scheduling for Gulf outdoor crews</a:t>
            </a:r>
          </a:p>
          <a:p>
            <a:pPr/>
            <a:r>
              <a:rPr sz="1600">
                <a:solidFill>
                  <a:srgbClr val="212121"/>
                </a:solidFill>
                <a:latin typeface="Arial"/>
              </a:rPr>
              <a:t>Replacing the blunt calendar ban with a condition-responsive, provable system</a:t>
            </a:r>
          </a:p>
          <a:p>
            <a:pPr/>
            <a:r>
              <a:rPr sz="1600">
                <a:solidFill>
                  <a:srgbClr val="212121"/>
                </a:solidFill>
                <a:latin typeface="Arial"/>
              </a:rPr>
              <a:t>London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300">
                <a:latin typeface="Arial"/>
              </a:rPr>
              <a:t>[Add each member's name and one-line skillset]</a:t>
            </a:r>
          </a:p>
          <a:p>
            <a:pPr/>
            <a:r>
              <a:rPr sz="1300">
                <a:latin typeface="Arial"/>
              </a:rPr>
              <a:t>A multidisciplinary build: thermal-physiology + occupational-health standards, backend/data engineering, and front-end /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What is the problem?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300">
                <a:latin typeface="Arial"/>
              </a:rPr>
              <a:t>Millions of migrant workers do outdoor labour across the Gulf, where summer heat exceeds the limits of human thermoregulation.</a:t>
            </a:r>
          </a:p>
          <a:p>
            <a:pPr/>
            <a:r>
              <a:rPr sz="1300">
                <a:latin typeface="Arial"/>
              </a:rPr>
              <a:t>24,000,000 migrant workers in the Arab States — 41.4%, the highest share of any world region.</a:t>
            </a:r>
          </a:p>
          <a:p>
            <a:pPr/>
            <a:r>
              <a:rPr sz="1300">
                <a:latin typeface="Arial"/>
              </a:rPr>
              <a:t>~10,000 migrant deaths/year — and over half are certified with no underlying cause, so the heat toll is hidden.</a:t>
            </a:r>
          </a:p>
          <a:p>
            <a:pPr/>
            <a:r>
              <a:rPr sz="1300">
                <a:latin typeface="Arial"/>
              </a:rPr>
              <a:t>The control is a fixed CALENDAR ban (e.g. Saudi 12:00–15:00, 15 Jun–15 Sep). It is wrong in BOTH directions:</a:t>
            </a:r>
          </a:p>
          <a:p>
            <a:pPr lvl="1"/>
            <a:r>
              <a:rPr sz="1100">
                <a:latin typeface="Arial"/>
              </a:rPr>
              <a:t>misses May/September heat, humid mornings, and unacclimatized newcomers — the people who actually die</a:t>
            </a:r>
          </a:p>
          <a:p>
            <a:pPr lvl="1"/>
            <a:r>
              <a:rPr sz="1100">
                <a:latin typeface="Arial"/>
              </a:rPr>
              <a:t>and needlessly stops safe work, so employers resent and evade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9600" b="1">
                <a:solidFill>
                  <a:srgbClr val="DC2626"/>
                </a:solidFill>
                <a:latin typeface="Arial"/>
              </a:rPr>
              <a:t>~10,000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500">
                <a:solidFill>
                  <a:srgbClr val="595959"/>
                </a:solidFill>
                <a:latin typeface="Arial"/>
              </a:rPr>
              <a:t>migrant deaths a year in the Gulf (all-cause). Most are certified without an underlying cause, so the heat-attributable toll is hidden — and only 1 of 19 worker-heat studies worldwide comes from the Gulf. The danger is huge and largely unmeasured.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What is your solution?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ext cx="4572000" cy="0"/>
          </a:xfrm>
        </p:spPr>
        <p:txBody>
          <a:bodyPr wrap="square">
            <a:normAutofit/>
          </a:bodyPr>
          <a:lstStyle/>
          <a:p>
            <a:pPr/>
            <a:r>
              <a:rPr sz="1200">
                <a:latin typeface="Arial"/>
              </a:rPr>
              <a:t>A site-level, WBGT-driven work–rest–hydration scheduler for the supervisor — one cheap sensor per site, not a wearable per worker.</a:t>
            </a:r>
          </a:p>
          <a:p>
            <a:pPr/>
            <a:r>
              <a:rPr sz="1200">
                <a:latin typeface="Arial"/>
              </a:rPr>
              <a:t>Senses WBGT (or a ~$300 on-site meter) → outputs the actual ACGIH/ISO 7243 work-rest cycle and ISO 7933 hydration target for current conditions and the worker.</a:t>
            </a:r>
          </a:p>
          <a:p>
            <a:pPr/>
            <a:r>
              <a:rPr sz="1200">
                <a:latin typeface="Arial"/>
              </a:rPr>
              <a:t>Broadcasts one signal everyone understands: WORK · REST IN SHADE · DRINK NOW · STOP.</a:t>
            </a:r>
          </a:p>
          <a:p>
            <a:pPr/>
            <a:r>
              <a:rPr sz="1200">
                <a:latin typeface="Arial"/>
              </a:rPr>
              <a:t>Ramps new arrivals in safely (NIOSH) and logs everything to a tamper-evident, privacy-by-design worker-protection record.</a:t>
            </a:r>
          </a:p>
        </p:txBody>
      </p:sp>
      <p:pic>
        <p:nvPicPr>
          <p:cNvPr id="4" name="Picture 3" descr="0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How does it 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200">
                <a:latin typeface="Arial"/>
              </a:rPr>
              <a:t>Data: free Open-Meteo reanalysis weather (cached for an offline demo).</a:t>
            </a:r>
          </a:p>
          <a:p>
            <a:pPr/>
            <a:r>
              <a:rPr sz="1200">
                <a:latin typeface="Arial"/>
              </a:rPr>
              <a:t>WBGT: the validated Liljegren model (ECMWF thermofeel) with a vendored solar calc — or a measured on-site reading.</a:t>
            </a:r>
          </a:p>
          <a:p>
            <a:pPr/>
            <a:r>
              <a:rPr sz="1200">
                <a:latin typeface="Arial"/>
              </a:rPr>
              <a:t>Schedule: hardcoded ACGIH TLV / Action-Limit tables (ISO 7243); ISO 7933 Predicted Heat Strain (pythermalcomfort) for hydration and max exposure; NIOSH acclimatization ramp.</a:t>
            </a:r>
          </a:p>
          <a:p>
            <a:pPr/>
            <a:r>
              <a:rPr sz="1200">
                <a:latin typeface="Arial"/>
              </a:rPr>
              <a:t>Decision: the most-conservative of table · ramp · physiology → one signal. Every reading is SHA-256 hash-chained.</a:t>
            </a:r>
          </a:p>
          <a:p>
            <a:pPr/>
            <a:r>
              <a:rPr sz="1200">
                <a:latin typeface="Arial"/>
              </a:rPr>
              <a:t>One pure Python engine with a FastAPI API, a React dashboard, a Streamlit app, and a validation notebook — 79 tests + green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Why is it meaningful?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300">
                <a:latin typeface="Arial"/>
              </a:rPr>
              <a:t>It makes a cheap, proven intervention adaptive and auditable — the missing implementation layer.</a:t>
            </a:r>
          </a:p>
          <a:p>
            <a:pPr/>
            <a:r>
              <a:rPr sz="1300">
                <a:latin typeface="Arial"/>
              </a:rPr>
              <a:t>Per 100-worker crew, one season: 1,237 dangerous hours the ban missed; 7.7 acute-kidney-injury cases averted; productivity maintained or raised 10–20%.</a:t>
            </a:r>
          </a:p>
          <a:p>
            <a:pPr/>
            <a:r>
              <a:rPr sz="1300">
                <a:latin typeface="Arial"/>
              </a:rPr>
              <a:t>Validated: the impact model reproduces the real La Isla / Adelante (Nicaragua) outcome — AKI −94%, productivity +10–20%.</a:t>
            </a:r>
          </a:p>
          <a:p>
            <a:pPr/>
            <a:r>
              <a:rPr sz="1300">
                <a:latin typeface="Arial"/>
              </a:rPr>
              <a:t>Productivity-positive with a ~6-week payback, plus a compliance shield — so it actually gets switched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9600" b="1">
                <a:solidFill>
                  <a:srgbClr val="FF6A00"/>
                </a:solidFill>
                <a:latin typeface="Arial"/>
              </a:rPr>
              <a:t>~1,900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500">
                <a:solidFill>
                  <a:srgbClr val="595959"/>
                </a:solidFill>
                <a:latin typeface="Arial"/>
              </a:rPr>
              <a:t>lives saved across a 5,000,000-worker regional season — with ~383,000 kidney-injury cases averted and $1.6–2.5B in value (illustrative, conservative). A 100,000-worker megaproject: ~38 lives, 7,670 AKI cases averted, $32–50M of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9600" b="1">
                <a:solidFill>
                  <a:srgbClr val="0097A7"/>
                </a:solidFill>
                <a:latin typeface="Arial"/>
              </a:rPr>
              <a:t>3–5×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500">
                <a:solidFill>
                  <a:srgbClr val="595959"/>
                </a:solidFill>
                <a:latin typeface="Arial"/>
              </a:rPr>
              <a:t>ROI with a ~6-week payback in Dubai; 7–10× in Riyadh, where the blunt ban also destroys safe work. About $95/worker, mostly one-time capital. Not a safety cost — a productivity 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What would you do with more support?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/>
            <a:r>
              <a:rPr sz="1300">
                <a:latin typeface="Arial"/>
              </a:rPr>
              <a:t>Pilot with a Gulf labour-supply contractor: deploy cheap on-site WBGT meters + a site horn/light and validate against real outcomes.</a:t>
            </a:r>
          </a:p>
          <a:p>
            <a:pPr/>
            <a:r>
              <a:rPr sz="1300">
                <a:latin typeface="Arial"/>
              </a:rPr>
              <a:t>Development-finance pathway: lenders and ESG mandates already attach occupational-safety conditions — HeatGuard is the affordable implementation-and-verification layer.</a:t>
            </a:r>
          </a:p>
          <a:p>
            <a:pPr/>
            <a:r>
              <a:rPr sz="1300">
                <a:latin typeface="Arial"/>
              </a:rPr>
              <a:t>Close the data gap: there is almost no public Gulf worker-heat data — partner to collect it.</a:t>
            </a:r>
          </a:p>
          <a:p>
            <a:pPr/>
            <a:r>
              <a:rPr sz="1300">
                <a:latin typeface="Arial"/>
              </a:rPr>
              <a:t>Scale the engine to other heat-exposed sectors and regions (agriculture, logistics).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sz="2600" b="1">
                <a:solidFill>
                  <a:srgbClr val="212121"/>
                </a:solidFill>
                <a:latin typeface="Arial"/>
              </a:rPr>
              <a:t>Product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ext cx="4297680" cy="0"/>
          </a:xfrm>
        </p:spPr>
        <p:txBody>
          <a:bodyPr wrap="square">
            <a:normAutofit/>
          </a:bodyPr>
          <a:lstStyle/>
          <a:p>
            <a:pPr/>
            <a:r>
              <a:rPr sz="1200">
                <a:latin typeface="Arial"/>
              </a:rPr>
              <a:t>Live dashboard: the signal, the calendar-ban-vs-HeatGuard timeline, sensor-vs-estimate, per-worker individualization, the worker-protection record, and the business case.</a:t>
            </a:r>
          </a:p>
          <a:p>
            <a:pPr/>
            <a:r>
              <a:rPr sz="1200">
                <a:latin typeface="Arial"/>
              </a:rPr>
              <a:t>github.com/fcistud/heatguard   ·   79 tests + green CI   ·   MIT</a:t>
            </a:r>
          </a:p>
          <a:p>
            <a:pPr/>
            <a:r>
              <a:rPr sz="1200">
                <a:latin typeface="Arial"/>
              </a:rPr>
              <a:t>A prototype, not certified safety equipment.</a:t>
            </a:r>
          </a:p>
        </p:txBody>
      </p:sp>
      <p:pic>
        <p:nvPicPr>
          <p:cNvPr id="4" name="Picture 3" descr="04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0160"/>
            <a:ext cx="4297680" cy="2984500"/>
          </a:xfrm>
          <a:prstGeom prst="rect">
            <a:avLst/>
          </a:prstGeom>
        </p:spPr>
      </p:pic>
      <p:pic>
        <p:nvPicPr>
          <p:cNvPr id="5" name="Picture 4" descr="10_measu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17520"/>
            <a:ext cx="4297680" cy="298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